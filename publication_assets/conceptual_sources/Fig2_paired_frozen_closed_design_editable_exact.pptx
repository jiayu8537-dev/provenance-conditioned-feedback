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77227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visual reference: /Users/tigher/Desktop/第二SCI/JIIS-CPU-Analysis- v-1/JIIS_Publication_Assets_v1/figures/Fig2_paired_frozen_closed_design_600dpi.png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" name="matched-to-logic-line"/>
          <p:cNvSpPr>
            <a:spLocks noGrp="1"/>
          </p:cNvSpPr>
          <p:nvPr/>
        </p:nvSpPr>
        <p:spPr>
          <a:xfrm>
            <a:off x="6085523" y="1409700"/>
            <a:ext cx="20955" cy="142875"/>
          </a:xfrm>
          <a:prstGeom prst="rect">
            <a:avLst/>
          </a:prstGeom>
          <a:solidFill>
            <a:srgbClr val="222222"/>
          </a:solidFill>
          <a:ln w="0">
            <a:solidFill>
              <a:schemeClr val="tx1"/>
            </a:solidFill>
            <a:prstDash val="solid"/>
          </a:ln>
        </p:spPr>
      </p:sp>
      <p:sp>
        <p:nvSpPr>
          <p:cNvPr id="2" name="matched-to-logic-arrow"/>
          <p:cNvSpPr>
            <a:spLocks noGrp="1"/>
          </p:cNvSpPr>
          <p:nvPr/>
        </p:nvSpPr>
        <p:spPr>
          <a:xfrm rot="10800000">
            <a:off x="6000115" y="1513840"/>
            <a:ext cx="191135" cy="101600"/>
          </a:xfrm>
          <a:prstGeom prst="triangle">
            <a:avLst/>
          </a:prstGeom>
          <a:solidFill>
            <a:srgbClr val="222222"/>
          </a:solidFill>
          <a:ln w="0">
            <a:solidFill>
              <a:schemeClr val="tx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branch-stem"/>
          <p:cNvSpPr>
            <a:spLocks noGrp="1"/>
          </p:cNvSpPr>
          <p:nvPr/>
        </p:nvSpPr>
        <p:spPr>
          <a:xfrm>
            <a:off x="6085523" y="2314575"/>
            <a:ext cx="20955" cy="352425"/>
          </a:xfrm>
          <a:prstGeom prst="rect">
            <a:avLst/>
          </a:prstGeom>
          <a:solidFill>
            <a:srgbClr val="222222"/>
          </a:solidFill>
          <a:ln w="0">
            <a:solidFill>
              <a:schemeClr val="tx1"/>
            </a:solidFill>
            <a:prstDash val="solid"/>
          </a:ln>
        </p:spPr>
      </p:sp>
      <p:sp>
        <p:nvSpPr>
          <p:cNvPr id="4" name="branch-horizontal"/>
          <p:cNvSpPr>
            <a:spLocks noGrp="1"/>
          </p:cNvSpPr>
          <p:nvPr/>
        </p:nvSpPr>
        <p:spPr>
          <a:xfrm>
            <a:off x="3143250" y="2656523"/>
            <a:ext cx="5905500" cy="209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branch-left-drop"/>
          <p:cNvSpPr>
            <a:spLocks noGrp="1"/>
          </p:cNvSpPr>
          <p:nvPr/>
        </p:nvSpPr>
        <p:spPr>
          <a:xfrm>
            <a:off x="3132773" y="2667000"/>
            <a:ext cx="20955" cy="104775"/>
          </a:xfrm>
          <a:prstGeom prst="rect">
            <a:avLst/>
          </a:prstGeom>
          <a:solidFill>
            <a:srgbClr val="222222"/>
          </a:solidFill>
          <a:ln w="0">
            <a:solidFill>
              <a:schemeClr val="tx1"/>
            </a:solidFill>
            <a:prstDash val="solid"/>
          </a:ln>
        </p:spPr>
      </p:sp>
      <p:sp>
        <p:nvSpPr>
          <p:cNvPr id="6" name="branch-left-arrow"/>
          <p:cNvSpPr>
            <a:spLocks noGrp="1"/>
          </p:cNvSpPr>
          <p:nvPr/>
        </p:nvSpPr>
        <p:spPr>
          <a:xfrm rot="10800000">
            <a:off x="3081020" y="2757805"/>
            <a:ext cx="154940" cy="109220"/>
          </a:xfrm>
          <a:prstGeom prst="triangle">
            <a:avLst/>
          </a:prstGeom>
          <a:solidFill>
            <a:srgbClr val="222222"/>
          </a:solidFill>
          <a:ln w="0">
            <a:solidFill>
              <a:schemeClr val="tx1"/>
            </a:solidFill>
            <a:prstDash val="solid"/>
          </a:ln>
        </p:spPr>
      </p:sp>
      <p:sp>
        <p:nvSpPr>
          <p:cNvPr id="7" name="branch-right-drop"/>
          <p:cNvSpPr>
            <a:spLocks noGrp="1"/>
          </p:cNvSpPr>
          <p:nvPr/>
        </p:nvSpPr>
        <p:spPr>
          <a:xfrm>
            <a:off x="9038273" y="2667000"/>
            <a:ext cx="20955" cy="104775"/>
          </a:xfrm>
          <a:prstGeom prst="rect">
            <a:avLst/>
          </a:prstGeom>
          <a:solidFill>
            <a:srgbClr val="222222"/>
          </a:solidFill>
          <a:ln w="0">
            <a:solidFill>
              <a:schemeClr val="tx1"/>
            </a:solidFill>
            <a:prstDash val="solid"/>
          </a:ln>
        </p:spPr>
      </p:sp>
      <p:sp>
        <p:nvSpPr>
          <p:cNvPr id="8" name="branch-right-arrow"/>
          <p:cNvSpPr>
            <a:spLocks noGrp="1"/>
          </p:cNvSpPr>
          <p:nvPr/>
        </p:nvSpPr>
        <p:spPr>
          <a:xfrm rot="10800000">
            <a:off x="8953500" y="2743200"/>
            <a:ext cx="190500" cy="123825"/>
          </a:xfrm>
          <a:prstGeom prst="triangle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9" name="frozen-1-line"/>
          <p:cNvSpPr>
            <a:spLocks noGrp="1"/>
          </p:cNvSpPr>
          <p:nvPr/>
        </p:nvSpPr>
        <p:spPr>
          <a:xfrm>
            <a:off x="4371975" y="3170873"/>
            <a:ext cx="209550" cy="20955"/>
          </a:xfrm>
          <a:prstGeom prst="rect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10" name="frozen-1-arrow"/>
          <p:cNvSpPr>
            <a:spLocks noGrp="1"/>
          </p:cNvSpPr>
          <p:nvPr/>
        </p:nvSpPr>
        <p:spPr>
          <a:xfrm rot="5400000">
            <a:off x="4543425" y="3100388"/>
            <a:ext cx="180975" cy="161925"/>
          </a:xfrm>
          <a:prstGeom prst="triangle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11" name="frozen-2-line"/>
          <p:cNvSpPr>
            <a:spLocks noGrp="1"/>
          </p:cNvSpPr>
          <p:nvPr/>
        </p:nvSpPr>
        <p:spPr>
          <a:xfrm>
            <a:off x="7086600" y="3170873"/>
            <a:ext cx="209550" cy="20955"/>
          </a:xfrm>
          <a:prstGeom prst="rect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12" name="frozen-2-arrow"/>
          <p:cNvSpPr>
            <a:spLocks noGrp="1"/>
          </p:cNvSpPr>
          <p:nvPr/>
        </p:nvSpPr>
        <p:spPr>
          <a:xfrm rot="5400000">
            <a:off x="7258050" y="3100388"/>
            <a:ext cx="180975" cy="161925"/>
          </a:xfrm>
          <a:prstGeom prst="triangle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13" name="closed-1-line"/>
          <p:cNvSpPr>
            <a:spLocks noGrp="1"/>
          </p:cNvSpPr>
          <p:nvPr/>
        </p:nvSpPr>
        <p:spPr>
          <a:xfrm>
            <a:off x="4371975" y="4437698"/>
            <a:ext cx="209550" cy="20955"/>
          </a:xfrm>
          <a:prstGeom prst="rect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14" name="closed-1-arrow"/>
          <p:cNvSpPr>
            <a:spLocks noGrp="1"/>
          </p:cNvSpPr>
          <p:nvPr/>
        </p:nvSpPr>
        <p:spPr>
          <a:xfrm rot="5400000">
            <a:off x="4543425" y="4367213"/>
            <a:ext cx="180975" cy="161925"/>
          </a:xfrm>
          <a:prstGeom prst="triangle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15" name="closed-2-line"/>
          <p:cNvSpPr>
            <a:spLocks noGrp="1"/>
          </p:cNvSpPr>
          <p:nvPr/>
        </p:nvSpPr>
        <p:spPr>
          <a:xfrm>
            <a:off x="7086600" y="4437698"/>
            <a:ext cx="209550" cy="20955"/>
          </a:xfrm>
          <a:prstGeom prst="rect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16" name="closed-2-arrow"/>
          <p:cNvSpPr>
            <a:spLocks noGrp="1"/>
          </p:cNvSpPr>
          <p:nvPr/>
        </p:nvSpPr>
        <p:spPr>
          <a:xfrm rot="5400000">
            <a:off x="7258050" y="4367213"/>
            <a:ext cx="180975" cy="161925"/>
          </a:xfrm>
          <a:prstGeom prst="triangle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20" name="frozen-output-arrow"/>
          <p:cNvSpPr>
            <a:spLocks noGrp="1"/>
          </p:cNvSpPr>
          <p:nvPr/>
        </p:nvSpPr>
        <p:spPr>
          <a:xfrm rot="10800000">
            <a:off x="8976360" y="5238750"/>
            <a:ext cx="190500" cy="171450"/>
          </a:xfrm>
          <a:prstGeom prst="triangle">
            <a:avLst/>
          </a:prstGeom>
          <a:solidFill>
            <a:srgbClr val="0072B2"/>
          </a:solidFill>
          <a:ln w="0">
            <a:noFill/>
            <a:prstDash val="solid"/>
          </a:ln>
        </p:spPr>
      </p:sp>
      <p:sp>
        <p:nvSpPr>
          <p:cNvPr id="21" name="closed-output-down"/>
          <p:cNvSpPr>
            <a:spLocks noGrp="1"/>
          </p:cNvSpPr>
          <p:nvPr/>
        </p:nvSpPr>
        <p:spPr>
          <a:xfrm>
            <a:off x="9072404" y="4898390"/>
            <a:ext cx="23813" cy="361950"/>
          </a:xfrm>
          <a:prstGeom prst="rect">
            <a:avLst/>
          </a:prstGeom>
          <a:solidFill>
            <a:srgbClr val="0072B2"/>
          </a:solidFill>
          <a:ln w="0">
            <a:noFill/>
            <a:prstDash val="solid"/>
          </a:ln>
        </p:spPr>
      </p:sp>
      <p:sp>
        <p:nvSpPr>
          <p:cNvPr id="23" name="observed-box"/>
          <p:cNvSpPr>
            <a:spLocks noGrp="1"/>
          </p:cNvSpPr>
          <p:nvPr/>
        </p:nvSpPr>
        <p:spPr>
          <a:xfrm>
            <a:off x="304800" y="571500"/>
            <a:ext cx="2095500" cy="8382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21431">
            <a:solidFill>
              <a:srgbClr val="222222"/>
            </a:solidFill>
            <a:prstDash val="solid"/>
          </a:ln>
        </p:spPr>
      </p:sp>
      <p:sp>
        <p:nvSpPr>
          <p:cNvPr id="24" name="observed-text"/>
          <p:cNvSpPr>
            <a:spLocks noGrp="1"/>
          </p:cNvSpPr>
          <p:nvPr/>
        </p:nvSpPr>
        <p:spPr>
          <a:xfrm>
            <a:off x="352425" y="619125"/>
            <a:ext cx="200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4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4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Observed history</a:t>
            </a:r>
            <a:endParaRPr sz="154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54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4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initial 64-d BPR</a:t>
            </a:r>
            <a:endParaRPr sz="154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panel-box"/>
          <p:cNvSpPr>
            <a:spLocks noGrp="1"/>
          </p:cNvSpPr>
          <p:nvPr/>
        </p:nvSpPr>
        <p:spPr>
          <a:xfrm>
            <a:off x="2571750" y="571500"/>
            <a:ext cx="2105025" cy="8382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21431">
            <a:solidFill>
              <a:srgbClr val="222222"/>
            </a:solidFill>
            <a:prstDash val="solid"/>
          </a:ln>
        </p:spPr>
      </p:sp>
      <p:sp>
        <p:nvSpPr>
          <p:cNvPr id="26" name="panel-text"/>
          <p:cNvSpPr>
            <a:spLocks noGrp="1"/>
          </p:cNvSpPr>
          <p:nvPr/>
        </p:nvSpPr>
        <p:spPr>
          <a:xfrm>
            <a:off x="2619375" y="619125"/>
            <a:ext cx="20097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Panel + attribution</a:t>
            </a:r>
            <a:endParaRPr sz="151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150 users</a:t>
            </a:r>
            <a:endParaRPr sz="151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balanced labels</a:t>
            </a:r>
            <a:endParaRPr sz="151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matched-box"/>
          <p:cNvSpPr>
            <a:spLocks noGrp="1"/>
          </p:cNvSpPr>
          <p:nvPr/>
        </p:nvSpPr>
        <p:spPr>
          <a:xfrm>
            <a:off x="4838700" y="571500"/>
            <a:ext cx="2381250" cy="8382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21431">
            <a:solidFill>
              <a:srgbClr val="222222"/>
            </a:solidFill>
            <a:prstDash val="solid"/>
          </a:ln>
        </p:spPr>
      </p:sp>
      <p:sp>
        <p:nvSpPr>
          <p:cNvPr id="28" name="matched-text"/>
          <p:cNvSpPr>
            <a:spLocks noGrp="1"/>
          </p:cNvSpPr>
          <p:nvPr/>
        </p:nvSpPr>
        <p:spPr>
          <a:xfrm>
            <a:off x="4886325" y="619125"/>
            <a:ext cx="228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1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1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Matched streams</a:t>
            </a:r>
            <a:endParaRPr sz="151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51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1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candidate / choice</a:t>
            </a:r>
            <a:endParaRPr sz="151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51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1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negative draws</a:t>
            </a:r>
            <a:endParaRPr sz="151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rounds-box"/>
          <p:cNvSpPr>
            <a:spLocks noGrp="1"/>
          </p:cNvSpPr>
          <p:nvPr/>
        </p:nvSpPr>
        <p:spPr>
          <a:xfrm>
            <a:off x="7381875" y="571500"/>
            <a:ext cx="2038350" cy="8382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21431">
            <a:solidFill>
              <a:srgbClr val="222222"/>
            </a:solidFill>
            <a:prstDash val="solid"/>
          </a:ln>
        </p:spPr>
      </p:sp>
      <p:sp>
        <p:nvSpPr>
          <p:cNvPr id="30" name="rounds-text"/>
          <p:cNvSpPr>
            <a:spLocks noGrp="1"/>
          </p:cNvSpPr>
          <p:nvPr/>
        </p:nvSpPr>
        <p:spPr>
          <a:xfrm>
            <a:off x="7429500" y="619125"/>
            <a:ext cx="1943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3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3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Six rounds</a:t>
            </a:r>
            <a:endParaRPr sz="153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53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3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M=240; Top-20</a:t>
            </a:r>
            <a:endParaRPr sz="153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response-box"/>
          <p:cNvSpPr>
            <a:spLocks noGrp="1"/>
          </p:cNvSpPr>
          <p:nvPr/>
        </p:nvSpPr>
        <p:spPr>
          <a:xfrm>
            <a:off x="9582150" y="571500"/>
            <a:ext cx="2238375" cy="8382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21431">
            <a:solidFill>
              <a:srgbClr val="222222"/>
            </a:solidFill>
            <a:prstDash val="solid"/>
          </a:ln>
        </p:spPr>
      </p:sp>
      <p:sp>
        <p:nvSpPr>
          <p:cNvPr id="32" name="response-text"/>
          <p:cNvSpPr>
            <a:spLocks noGrp="1"/>
          </p:cNvSpPr>
          <p:nvPr/>
        </p:nvSpPr>
        <p:spPr>
          <a:xfrm>
            <a:off x="9629775" y="619125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2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2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Response</a:t>
            </a:r>
            <a:endParaRPr sz="152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52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2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δ fixed within pair</a:t>
            </a:r>
            <a:endParaRPr sz="152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logic-box"/>
          <p:cNvSpPr>
            <a:spLocks noGrp="1"/>
          </p:cNvSpPr>
          <p:nvPr/>
        </p:nvSpPr>
        <p:spPr>
          <a:xfrm>
            <a:off x="2914650" y="1657350"/>
            <a:ext cx="6376670" cy="695325"/>
          </a:xfrm>
          <a:prstGeom prst="roundRect">
            <a:avLst>
              <a:gd name="adj" fmla="val 14286"/>
            </a:avLst>
          </a:prstGeom>
          <a:solidFill>
            <a:srgbClr val="EAF4FA"/>
          </a:solidFill>
          <a:ln w="23336">
            <a:solidFill>
              <a:schemeClr val="tx1"/>
            </a:solidFill>
            <a:prstDash val="solid"/>
          </a:ln>
        </p:spPr>
      </p:sp>
      <p:sp>
        <p:nvSpPr>
          <p:cNvPr id="34" name="logic-text"/>
          <p:cNvSpPr>
            <a:spLocks noGrp="1"/>
          </p:cNvSpPr>
          <p:nvPr/>
        </p:nvSpPr>
        <p:spPr>
          <a:xfrm>
            <a:off x="2971800" y="1685925"/>
            <a:ext cx="62674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38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8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Identical branch logic within each round</a:t>
            </a:r>
            <a:endParaRPr sz="138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5000"/>
              </a:lnSpc>
              <a:buNone/>
              <a:defRPr sz="138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8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score and standardize eligible candidates → rank and display</a:t>
            </a:r>
            <a:endParaRPr sz="138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5000"/>
              </a:lnSpc>
              <a:buNone/>
              <a:defRPr sz="138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8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accept an item or select the outside option</a:t>
            </a:r>
            <a:endParaRPr sz="138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frozen-rank-box"/>
          <p:cNvSpPr>
            <a:spLocks noGrp="1"/>
          </p:cNvSpPr>
          <p:nvPr/>
        </p:nvSpPr>
        <p:spPr>
          <a:xfrm>
            <a:off x="2019300" y="2867025"/>
            <a:ext cx="2257425" cy="771525"/>
          </a:xfrm>
          <a:prstGeom prst="roundRect">
            <a:avLst>
              <a:gd name="adj" fmla="val 11111"/>
            </a:avLst>
          </a:prstGeom>
          <a:solidFill>
            <a:srgbClr val="EAF4FA"/>
          </a:solidFill>
          <a:ln w="22384">
            <a:solidFill>
              <a:srgbClr val="0072B2"/>
            </a:solidFill>
            <a:prstDash val="solid"/>
          </a:ln>
        </p:spPr>
      </p:sp>
      <p:sp>
        <p:nvSpPr>
          <p:cNvPr id="36" name="frozen-rank-text"/>
          <p:cNvSpPr>
            <a:spLocks noGrp="1"/>
          </p:cNvSpPr>
          <p:nvPr/>
        </p:nvSpPr>
        <p:spPr>
          <a:xfrm>
            <a:off x="2066925" y="2905125"/>
            <a:ext cx="21621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Rank and choice</a:t>
            </a:r>
            <a:endParaRPr sz="151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frozen model state</a:t>
            </a:r>
            <a:endParaRPr sz="151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frozen-outcome-box"/>
          <p:cNvSpPr>
            <a:spLocks noGrp="1"/>
          </p:cNvSpPr>
          <p:nvPr/>
        </p:nvSpPr>
        <p:spPr>
          <a:xfrm>
            <a:off x="4857750" y="2867025"/>
            <a:ext cx="2114550" cy="77152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384">
            <a:solidFill>
              <a:srgbClr val="222222"/>
            </a:solidFill>
            <a:prstDash val="solid"/>
          </a:ln>
        </p:spPr>
      </p:sp>
      <p:sp>
        <p:nvSpPr>
          <p:cNvPr id="38" name="frozen-outcome-text"/>
          <p:cNvSpPr>
            <a:spLocks noGrp="1"/>
          </p:cNvSpPr>
          <p:nvPr/>
        </p:nvSpPr>
        <p:spPr>
          <a:xfrm>
            <a:off x="4905375" y="2905125"/>
            <a:ext cx="20193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0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Accepted interaction</a:t>
            </a:r>
            <a:endParaRPr sz="150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50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record outcomes only</a:t>
            </a:r>
            <a:endParaRPr sz="150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9" name="frozen-state-box"/>
          <p:cNvSpPr>
            <a:spLocks noGrp="1"/>
          </p:cNvSpPr>
          <p:nvPr/>
        </p:nvSpPr>
        <p:spPr>
          <a:xfrm>
            <a:off x="7610475" y="2867025"/>
            <a:ext cx="2905125" cy="77152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384">
            <a:solidFill>
              <a:srgbClr val="222222"/>
            </a:solidFill>
            <a:prstDash val="solid"/>
          </a:ln>
        </p:spPr>
      </p:sp>
      <p:sp>
        <p:nvSpPr>
          <p:cNvPr id="40" name="frozen-state-text"/>
          <p:cNvSpPr>
            <a:spLocks noGrp="1"/>
          </p:cNvSpPr>
          <p:nvPr/>
        </p:nvSpPr>
        <p:spPr>
          <a:xfrm>
            <a:off x="7658100" y="2905125"/>
            <a:ext cx="28098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0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Parameters never change</a:t>
            </a:r>
            <a:endParaRPr sz="150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50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 learning update</a:t>
            </a:r>
            <a:endParaRPr sz="150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closed-rank-box"/>
          <p:cNvSpPr>
            <a:spLocks noGrp="1"/>
          </p:cNvSpPr>
          <p:nvPr/>
        </p:nvSpPr>
        <p:spPr>
          <a:xfrm>
            <a:off x="2019300" y="4133850"/>
            <a:ext cx="2257425" cy="771525"/>
          </a:xfrm>
          <a:prstGeom prst="roundRect">
            <a:avLst>
              <a:gd name="adj" fmla="val 11111"/>
            </a:avLst>
          </a:prstGeom>
          <a:solidFill>
            <a:srgbClr val="EAF4FA"/>
          </a:solidFill>
          <a:ln w="22384">
            <a:solidFill>
              <a:srgbClr val="0072B2"/>
            </a:solidFill>
            <a:prstDash val="solid"/>
          </a:ln>
        </p:spPr>
      </p:sp>
      <p:sp>
        <p:nvSpPr>
          <p:cNvPr id="42" name="closed-rank-text"/>
          <p:cNvSpPr>
            <a:spLocks noGrp="1"/>
          </p:cNvSpPr>
          <p:nvPr/>
        </p:nvSpPr>
        <p:spPr>
          <a:xfrm>
            <a:off x="2066925" y="4171950"/>
            <a:ext cx="21621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Rank and choice</a:t>
            </a:r>
            <a:endParaRPr sz="151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1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current model state</a:t>
            </a:r>
            <a:endParaRPr sz="151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3" name="closed-outcome-box"/>
          <p:cNvSpPr>
            <a:spLocks noGrp="1"/>
          </p:cNvSpPr>
          <p:nvPr/>
        </p:nvSpPr>
        <p:spPr>
          <a:xfrm>
            <a:off x="4857750" y="4133850"/>
            <a:ext cx="2114550" cy="771525"/>
          </a:xfrm>
          <a:prstGeom prst="roundRect">
            <a:avLst>
              <a:gd name="adj" fmla="val 11111"/>
            </a:avLst>
          </a:prstGeom>
          <a:solidFill>
            <a:srgbClr val="FCF1E8"/>
          </a:solidFill>
          <a:ln w="22384">
            <a:solidFill>
              <a:srgbClr val="D55E00"/>
            </a:solidFill>
            <a:prstDash val="solid"/>
          </a:ln>
        </p:spPr>
      </p:sp>
      <p:sp>
        <p:nvSpPr>
          <p:cNvPr id="44" name="closed-outcome-text"/>
          <p:cNvSpPr>
            <a:spLocks noGrp="1"/>
          </p:cNvSpPr>
          <p:nvPr/>
        </p:nvSpPr>
        <p:spPr>
          <a:xfrm>
            <a:off x="4905375" y="4171950"/>
            <a:ext cx="20193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47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7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Accepted interaction</a:t>
            </a:r>
            <a:endParaRPr sz="147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47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7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same response uniform</a:t>
            </a:r>
            <a:endParaRPr sz="147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" name="closed-update-box"/>
          <p:cNvSpPr>
            <a:spLocks noGrp="1"/>
          </p:cNvSpPr>
          <p:nvPr/>
        </p:nvSpPr>
        <p:spPr>
          <a:xfrm>
            <a:off x="7610475" y="4133850"/>
            <a:ext cx="2905125" cy="771525"/>
          </a:xfrm>
          <a:prstGeom prst="roundRect">
            <a:avLst>
              <a:gd name="adj" fmla="val 11111"/>
            </a:avLst>
          </a:prstGeom>
          <a:solidFill>
            <a:srgbClr val="E9F6F1"/>
          </a:solidFill>
          <a:ln w="22384">
            <a:solidFill>
              <a:srgbClr val="009E73"/>
            </a:solidFill>
            <a:prstDash val="solid"/>
          </a:ln>
        </p:spPr>
      </p:sp>
      <p:sp>
        <p:nvSpPr>
          <p:cNvPr id="46" name="closed-update-text"/>
          <p:cNvSpPr>
            <a:spLocks noGrp="1"/>
          </p:cNvSpPr>
          <p:nvPr/>
        </p:nvSpPr>
        <p:spPr>
          <a:xfrm>
            <a:off x="7658100" y="4171950"/>
            <a:ext cx="28098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42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Online BPR update</a:t>
            </a:r>
            <a:endParaRPr sz="142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42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K=3 per accepted event</a:t>
            </a:r>
            <a:endParaRPr sz="142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42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new event only; no replay</a:t>
            </a:r>
            <a:endParaRPr sz="142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7" name="contrast-box"/>
          <p:cNvSpPr>
            <a:spLocks noGrp="1"/>
          </p:cNvSpPr>
          <p:nvPr/>
        </p:nvSpPr>
        <p:spPr>
          <a:xfrm>
            <a:off x="3476625" y="5410200"/>
            <a:ext cx="5619750" cy="781050"/>
          </a:xfrm>
          <a:prstGeom prst="roundRect">
            <a:avLst>
              <a:gd name="adj" fmla="val 10976"/>
            </a:avLst>
          </a:prstGeom>
          <a:solidFill>
            <a:srgbClr val="EAF4FA"/>
          </a:solidFill>
          <a:ln w="23336">
            <a:solidFill>
              <a:srgbClr val="0072B2"/>
            </a:solidFill>
            <a:prstDash val="solid"/>
          </a:ln>
        </p:spPr>
      </p:sp>
      <p:sp>
        <p:nvSpPr>
          <p:cNvPr id="48" name="contrast-text"/>
          <p:cNvSpPr>
            <a:spLocks noGrp="1"/>
          </p:cNvSpPr>
          <p:nvPr/>
        </p:nvSpPr>
        <p:spPr>
          <a:xfrm>
            <a:off x="3533775" y="5448300"/>
            <a:ext cx="5505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4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Round-6 paired contrast</a:t>
            </a:r>
            <a:endParaRPr sz="145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4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Δ(δ) = Dclosed(δ) − Dfrozen(δ)</a:t>
            </a:r>
            <a:endParaRPr sz="145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96000"/>
              </a:lnSpc>
              <a:buNone/>
              <a:defRPr sz="14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AA(δ) = Δ(δ) − Δ(0)</a:t>
            </a:r>
            <a:endParaRPr sz="145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figure-title"/>
          <p:cNvSpPr>
            <a:spLocks noGrp="1"/>
          </p:cNvSpPr>
          <p:nvPr/>
        </p:nvSpPr>
        <p:spPr>
          <a:xfrm>
            <a:off x="381000" y="171450"/>
            <a:ext cx="5715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lnSpc>
                <a:spcPct val="98000"/>
              </a:lnSpc>
              <a:buNone/>
              <a:defRPr sz="187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Shared initialization and random streams</a:t>
            </a:r>
            <a:endParaRPr sz="1875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frozen-label"/>
          <p:cNvSpPr>
            <a:spLocks noGrp="1"/>
          </p:cNvSpPr>
          <p:nvPr/>
        </p:nvSpPr>
        <p:spPr>
          <a:xfrm>
            <a:off x="304800" y="29527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lnSpc>
                <a:spcPct val="98000"/>
              </a:lnSpc>
              <a:buNone/>
              <a:defRPr sz="1590" b="0">
                <a:solidFill>
                  <a:srgbClr val="0072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90" b="0">
                <a:solidFill>
                  <a:srgbClr val="0072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Frozen</a:t>
            </a:r>
            <a:endParaRPr sz="1590" b="0">
              <a:solidFill>
                <a:srgbClr val="0072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1" name="closed-label"/>
          <p:cNvSpPr>
            <a:spLocks noGrp="1"/>
          </p:cNvSpPr>
          <p:nvPr/>
        </p:nvSpPr>
        <p:spPr>
          <a:xfrm>
            <a:off x="304800" y="4229100"/>
            <a:ext cx="1619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lnSpc>
                <a:spcPct val="98000"/>
              </a:lnSpc>
              <a:buNone/>
              <a:defRPr sz="1590" b="0">
                <a:solidFill>
                  <a:srgbClr val="009E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90" b="0">
                <a:solidFill>
                  <a:srgbClr val="009E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Closed-loop</a:t>
            </a:r>
            <a:endParaRPr sz="1590" b="0">
              <a:solidFill>
                <a:srgbClr val="009E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2" name="pairing-footer"/>
          <p:cNvSpPr>
            <a:spLocks noGrp="1"/>
          </p:cNvSpPr>
          <p:nvPr/>
        </p:nvSpPr>
        <p:spPr>
          <a:xfrm>
            <a:off x="1905000" y="6315075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lnSpc>
                <a:spcPct val="98000"/>
              </a:lnSpc>
              <a:buNone/>
              <a:defRPr sz="1350" b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Pairing holds panel, attribution, candidate construction, update order, and random streams fixed.</a:t>
            </a:r>
            <a:endParaRPr sz="1350" b="0">
              <a:solidFill>
                <a:srgbClr val="66666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59" name="肘形连接符 58"/>
          <p:cNvCxnSpPr>
            <a:stCxn id="39" idx="3"/>
            <a:endCxn id="21" idx="3"/>
          </p:cNvCxnSpPr>
          <p:nvPr/>
        </p:nvCxnSpPr>
        <p:spPr>
          <a:xfrm flipH="1">
            <a:off x="9096375" y="3253105"/>
            <a:ext cx="1419225" cy="1826260"/>
          </a:xfrm>
          <a:prstGeom prst="bentConnector3">
            <a:avLst>
              <a:gd name="adj1" fmla="val -16779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WPS 文字</Application>
  <PresentationFormat>Converted Presentation</PresentationFormat>
  <Paragraphs>52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WPS_1554781135</cp:lastModifiedBy>
  <cp:revision>2</cp:revision>
  <dcterms:created xsi:type="dcterms:W3CDTF">2026-08-28T11:19:11Z</dcterms:created>
  <dcterms:modified xsi:type="dcterms:W3CDTF">2026-08-28T11:19:11Z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ABA76DA59D576C60AF6E916AB541B3D4_43</vt:lpwstr>
  </property>
</Properties>
</file>